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Open Sans Bold"/>
      <p:regular r:id="rId201314"/>
    </p:embeddedFont>
    <p:embeddedFont>
      <p:font typeface="Open Sans"/>
      <p:regular r:id="rId201315"/>
    </p:embeddedFont>
    <p:embeddedFont>
      <p:font typeface="Playfair Display"/>
      <p:regular r:id="rId201316"/>
    </p:embeddedFont>
    <p:embeddedFont>
      <p:font typeface="Playfair Display Bold"/>
      <p:regular r:id="rId201317"/>
    </p:embeddedFont>
    <p:embeddedFont>
      <p:font typeface="Playfair Display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across product categories — spending patterns, customer segments, and subscription behavior to guide strategic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473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Dataset at a Glance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92609"/>
            <a:ext cx="5202138" cy="2926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8649" y="1833116"/>
            <a:ext cx="267392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78649" y="2099593"/>
            <a:ext cx="2673921" cy="10371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Demographics: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Age, Gender, Location, Subscription Status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Purchase Details: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Item, Category, Amount, Season, Size, Color</a:t>
            </a:r>
            <a:endParaRPr lang="en-US" sz="850" dirty="0"/>
          </a:p>
          <a:p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Behavior:</a:t>
            </a:r>
            <a:pPr algn="l" marL="172720" indent="-172720">
              <a:lnSpc>
                <a:spcPct val="120000"/>
              </a:lnSpc>
              <a:buSzPct val="100000"/>
              <a:buChar char="•"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Discount, Promo Code, Frequency, Review Rating, Shipping Type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96119" y="4121200"/>
            <a:ext cx="2657252" cy="618753"/>
          </a:xfrm>
          <a:prstGeom prst="roundRect">
            <a:avLst>
              <a:gd name="adj" fmla="val 2739"/>
            </a:avLst>
          </a:prstGeom>
          <a:solidFill>
            <a:srgbClr val="E0E0EC"/>
          </a:solidFill>
          <a:ln/>
        </p:spPr>
      </p:sp>
      <p:sp>
        <p:nvSpPr>
          <p:cNvPr id="7" name="Text 4"/>
          <p:cNvSpPr/>
          <p:nvPr/>
        </p:nvSpPr>
        <p:spPr>
          <a:xfrm>
            <a:off x="609079" y="4234160"/>
            <a:ext cx="243133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3,900 Rows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9079" y="4464621"/>
            <a:ext cx="243133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Individual purchase records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3243337" y="4121200"/>
            <a:ext cx="2657252" cy="618753"/>
          </a:xfrm>
          <a:prstGeom prst="roundRect">
            <a:avLst>
              <a:gd name="adj" fmla="val 2739"/>
            </a:avLst>
          </a:prstGeom>
          <a:solidFill>
            <a:srgbClr val="E0E0EC"/>
          </a:solidFill>
          <a:ln/>
        </p:spPr>
      </p:sp>
      <p:sp>
        <p:nvSpPr>
          <p:cNvPr id="10" name="Text 7"/>
          <p:cNvSpPr/>
          <p:nvPr/>
        </p:nvSpPr>
        <p:spPr>
          <a:xfrm>
            <a:off x="3356297" y="4234160"/>
            <a:ext cx="243133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18 Columns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356297" y="4464621"/>
            <a:ext cx="2431331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Rich feature set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90555" y="4121200"/>
            <a:ext cx="2657326" cy="618753"/>
          </a:xfrm>
          <a:prstGeom prst="roundRect">
            <a:avLst>
              <a:gd name="adj" fmla="val 2739"/>
            </a:avLst>
          </a:prstGeom>
          <a:solidFill>
            <a:srgbClr val="E0E0EC"/>
          </a:solidFill>
          <a:ln/>
        </p:spPr>
      </p:sp>
      <p:sp>
        <p:nvSpPr>
          <p:cNvPr id="13" name="Text 10"/>
          <p:cNvSpPr/>
          <p:nvPr/>
        </p:nvSpPr>
        <p:spPr>
          <a:xfrm>
            <a:off x="6103516" y="4234160"/>
            <a:ext cx="2431405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37 Missing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03516" y="4464621"/>
            <a:ext cx="2431405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Values in Review Rating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88305"/>
            <a:ext cx="4722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 Preparation in Python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496119" y="1013445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202382"/>
            <a:ext cx="4722763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6" name="Text 3"/>
          <p:cNvSpPr/>
          <p:nvPr/>
        </p:nvSpPr>
        <p:spPr>
          <a:xfrm>
            <a:off x="496119" y="1290712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Load &amp; Explore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96119" y="1538064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Imported via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used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structure and statistics.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96119" y="1905000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96119" y="2093937"/>
            <a:ext cx="4722763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0" name="Text 7"/>
          <p:cNvSpPr/>
          <p:nvPr/>
        </p:nvSpPr>
        <p:spPr>
          <a:xfrm>
            <a:off x="496119" y="2182267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Clean Missing Data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96119" y="2429619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Imputed 37 missing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Review Rating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values using median rating per product category.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2796555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96119" y="2985492"/>
            <a:ext cx="4722763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4" name="Text 11"/>
          <p:cNvSpPr/>
          <p:nvPr/>
        </p:nvSpPr>
        <p:spPr>
          <a:xfrm>
            <a:off x="496119" y="3073822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Standardize &amp; Engineer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96119" y="3321174"/>
            <a:ext cx="4722763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Renamed columns to snake_case; created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; dropped redundant 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highlight>
                  <a:srgbClr val="E6E6EA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96119" y="3864471"/>
            <a:ext cx="239167" cy="1494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96119" y="4053408"/>
            <a:ext cx="4722763" cy="14288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8" name="Text 15"/>
          <p:cNvSpPr/>
          <p:nvPr/>
        </p:nvSpPr>
        <p:spPr>
          <a:xfrm>
            <a:off x="496119" y="4141738"/>
            <a:ext cx="472276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Database Integration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496119" y="4389090"/>
            <a:ext cx="472276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Loaded cleaned DataFrame into PostgreSQL for SQL analysis.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Insight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total revenue — more than double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from female customers across 3,900 transactions.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0246"/>
            <a:ext cx="3902943" cy="779562"/>
          </a:xfrm>
          <a:prstGeom prst="roundRect">
            <a:avLst>
              <a:gd name="adj" fmla="val 2728"/>
            </a:avLst>
          </a:prstGeom>
          <a:solidFill>
            <a:srgbClr val="E3E3E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00065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43213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Male customers account for ~68% of total revenue in this dataset.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2569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Product Ratings &amp; Discount Patterns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7678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Top 5 Products by Avg Rating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96119" y="1532781"/>
            <a:ext cx="3911054" cy="2284065"/>
          </a:xfrm>
          <a:prstGeom prst="roundRect">
            <a:avLst>
              <a:gd name="adj" fmla="val 88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6119" y="1915046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2294930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96119" y="2674813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96119" y="3054697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96119" y="3434581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35943" y="1619548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Item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586707" y="1619548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Avg Rating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5943" y="1999431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Gloves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586707" y="1999431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3.86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5943" y="2379315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Sandals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86707" y="2379315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5943" y="2759199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Boots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86707" y="2759199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5943" y="3139083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86707" y="3139083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3.80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5943" y="3518967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Skirt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586707" y="3518967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3.78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41590" y="117678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Most Discounted Products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41590" y="1532781"/>
            <a:ext cx="3911054" cy="2284065"/>
          </a:xfrm>
          <a:prstGeom prst="roundRect">
            <a:avLst>
              <a:gd name="adj" fmla="val 88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41590" y="1915046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741590" y="2294930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741590" y="2674813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4741590" y="3054697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4741590" y="3434581"/>
            <a:ext cx="3911054" cy="844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881414" y="1619548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Item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832178" y="1619548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Discount Rate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81414" y="1999431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832178" y="1999431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50%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81414" y="2379315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Sneakers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832178" y="2379315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81414" y="2759199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Coat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832178" y="2759199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49%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81414" y="3139083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Sweater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832178" y="3139083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48%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81414" y="3518967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Pants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32178" y="3518967"/>
            <a:ext cx="2137842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47%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41590" y="3961730"/>
            <a:ext cx="391105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Hats lead both in discount rate (50%) and rank among top-rated products — a strong candidate for promotional campaigns.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382"/>
            <a:ext cx="8151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Shipping &amp; Subscription Analysis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07678"/>
            <a:ext cx="3908375" cy="2813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4269" y="1291010"/>
            <a:ext cx="3908375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Subscribers vs. Non-Subscribers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44269" y="1655192"/>
            <a:ext cx="3908375" cy="2040508"/>
          </a:xfrm>
          <a:prstGeom prst="roundRect">
            <a:avLst>
              <a:gd name="adj" fmla="val 1010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744269" y="2264048"/>
            <a:ext cx="3908375" cy="8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4744269" y="2870522"/>
            <a:ext cx="3908375" cy="858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4886474" y="1744489"/>
            <a:ext cx="11572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Status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861149" y="1744489"/>
            <a:ext cx="70008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835825" y="1744489"/>
            <a:ext cx="70008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Avg Spend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810500" y="1744489"/>
            <a:ext cx="70008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Total Revenue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886474" y="2350963"/>
            <a:ext cx="700088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Subscribed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61149" y="2350963"/>
            <a:ext cx="11572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1,053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35825" y="2350963"/>
            <a:ext cx="11572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$59.49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810500" y="2350963"/>
            <a:ext cx="11572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$62,645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886474" y="2957438"/>
            <a:ext cx="700088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 Subscribed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861149" y="2957438"/>
            <a:ext cx="11572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2,847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35825" y="2957438"/>
            <a:ext cx="11572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$59.87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7810500" y="2957438"/>
            <a:ext cx="1157288" cy="2163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$170,436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744269" y="3845347"/>
            <a:ext cx="3908375" cy="6489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 shipping yields slightly higher average spend (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$60.48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$58.46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). Non-subscribers drive more total revenue but at lower conversion — a key growth opportunity.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6198"/>
            <a:ext cx="4722763" cy="4291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Customer Segmentation</a:t>
            </a:r>
            <a:endParaRPr lang="en-US" sz="2700" dirty="0"/>
          </a:p>
        </p:txBody>
      </p:sp>
      <p:sp>
        <p:nvSpPr>
          <p:cNvPr id="4" name="Text 1"/>
          <p:cNvSpPr/>
          <p:nvPr/>
        </p:nvSpPr>
        <p:spPr>
          <a:xfrm>
            <a:off x="496119" y="1113458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3,116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496119" y="1734964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Loyal Customers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2029271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80% of the base — highest repeat purchase frequency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940621" y="1113458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701</a:t>
            </a:r>
            <a:endParaRPr lang="en-US" sz="3550" dirty="0"/>
          </a:p>
        </p:txBody>
      </p:sp>
      <p:sp>
        <p:nvSpPr>
          <p:cNvPr id="8" name="Text 5"/>
          <p:cNvSpPr/>
          <p:nvPr/>
        </p:nvSpPr>
        <p:spPr>
          <a:xfrm>
            <a:off x="2940621" y="1734964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Returning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2940621" y="2029271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18% — potential to convert to Loyal with incentives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718370" y="2796555"/>
            <a:ext cx="227826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5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83</a:t>
            </a:r>
            <a:endParaRPr lang="en-US" sz="3550" dirty="0"/>
          </a:p>
        </p:txBody>
      </p:sp>
      <p:sp>
        <p:nvSpPr>
          <p:cNvPr id="11" name="Text 8"/>
          <p:cNvSpPr/>
          <p:nvPr/>
        </p:nvSpPr>
        <p:spPr>
          <a:xfrm>
            <a:off x="1718370" y="3418061"/>
            <a:ext cx="2278261" cy="214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New Customers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1718370" y="3712369"/>
            <a:ext cx="2278261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2% — early engagement critical for retention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6119" y="4294659"/>
            <a:ext cx="4722763" cy="4326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Of customers with more than 5 purchases,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958 are subscribed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vs. </a:t>
            </a:r>
            <a:pPr algn="l" indent="0" marL="0">
              <a:lnSpc>
                <a:spcPct val="131000"/>
              </a:lnSpc>
              <a:buNone/>
            </a:pPr>
            <a:r>
              <a:rPr lang="en-US" sz="10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2,518 not subscribed</a:t>
            </a:r>
            <a:pPr algn="l" indent="0" marL="0">
              <a:lnSpc>
                <a:spcPct val="131000"/>
              </a:lnSpc>
              <a:buNone/>
            </a:pPr>
            <a:r>
              <a:rPr lang="en-US" sz="10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repeat buyers show strong subscription potential.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Revenue by Age Group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Key Takeaway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Young Adults lead revenue contribution 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$62,143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with a relatively even distribution across all age groups — suggesting broad market appeal.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2680246"/>
            <a:ext cx="3902943" cy="1006376"/>
          </a:xfrm>
          <a:prstGeom prst="roundRect">
            <a:avLst>
              <a:gd name="adj" fmla="val 2113"/>
            </a:avLst>
          </a:prstGeom>
          <a:solidFill>
            <a:srgbClr val="E3E3E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2900065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2843213"/>
            <a:ext cx="330048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Sales volume is highest among Young Adults (~950 customers) and Middle Age (~900 customers).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715"/>
            <a:ext cx="8151763" cy="311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Tableau Dashboard Overview</a:t>
            </a:r>
            <a:endParaRPr lang="en-US" sz="1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129" y="903089"/>
            <a:ext cx="4625504" cy="3113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7590" y="2214786"/>
            <a:ext cx="2694980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Dashboard KPIs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957590" y="2440484"/>
            <a:ext cx="2694980" cy="271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Interactive filters include Gender, Category, Shipping Type, and Subscription Status for drill-down analysis.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496119" y="4174406"/>
            <a:ext cx="1985367" cy="561380"/>
          </a:xfrm>
          <a:prstGeom prst="roundRect">
            <a:avLst>
              <a:gd name="adj" fmla="val 266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0046" y="4288334"/>
            <a:ext cx="1757511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Avg Purchase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0046" y="4486052"/>
            <a:ext cx="1757511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$59.76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per transaction</a:t>
            </a:r>
            <a:endParaRPr lang="en-US" sz="750" dirty="0"/>
          </a:p>
        </p:txBody>
      </p:sp>
      <p:sp>
        <p:nvSpPr>
          <p:cNvPr id="9" name="Shape 6"/>
          <p:cNvSpPr/>
          <p:nvPr/>
        </p:nvSpPr>
        <p:spPr>
          <a:xfrm>
            <a:off x="2551509" y="4174406"/>
            <a:ext cx="1985442" cy="561380"/>
          </a:xfrm>
          <a:prstGeom prst="roundRect">
            <a:avLst>
              <a:gd name="adj" fmla="val 266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65437" y="4288334"/>
            <a:ext cx="175758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Total Customers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2665437" y="4486052"/>
            <a:ext cx="175758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3,900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records analyzed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4606975" y="4174406"/>
            <a:ext cx="1985442" cy="561380"/>
          </a:xfrm>
          <a:prstGeom prst="roundRect">
            <a:avLst>
              <a:gd name="adj" fmla="val 266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720903" y="4288334"/>
            <a:ext cx="175758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Avg Review Rating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720903" y="4486052"/>
            <a:ext cx="175758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4.0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out of 5</a:t>
            </a:r>
            <a:endParaRPr lang="en-US" sz="750" dirty="0"/>
          </a:p>
        </p:txBody>
      </p:sp>
      <p:sp>
        <p:nvSpPr>
          <p:cNvPr id="15" name="Shape 12"/>
          <p:cNvSpPr/>
          <p:nvPr/>
        </p:nvSpPr>
        <p:spPr>
          <a:xfrm>
            <a:off x="6662440" y="4174406"/>
            <a:ext cx="1985442" cy="561380"/>
          </a:xfrm>
          <a:prstGeom prst="roundRect">
            <a:avLst>
              <a:gd name="adj" fmla="val 2663"/>
            </a:avLst>
          </a:prstGeom>
          <a:solidFill>
            <a:srgbClr val="F3F3F7"/>
          </a:solidFill>
          <a:ln w="14288">
            <a:solidFill>
              <a:srgbClr val="C6C6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76368" y="4288334"/>
            <a:ext cx="1757586" cy="155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Subscription Rate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6776368" y="4486052"/>
            <a:ext cx="1757586" cy="135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750" b="1" dirty="0">
                <a:solidFill>
                  <a:srgbClr val="39393C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73%</a:t>
            </a:r>
            <a:pPr algn="l" indent="0" marL="0">
              <a:lnSpc>
                <a:spcPct val="114000"/>
              </a:lnSpc>
              <a:buNone/>
            </a:pPr>
            <a:r>
              <a:rPr lang="en-US" sz="75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subscribed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7016"/>
            <a:ext cx="4722763" cy="415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101014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Business Recommendations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019175"/>
            <a:ext cx="265807" cy="26580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7674" y="1064791"/>
            <a:ext cx="4301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Boost Subscriptions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917674" y="1347192"/>
            <a:ext cx="430120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Promote exclusive subscriber benefits to convert the 27% non-subscribed base.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119" y="2008287"/>
            <a:ext cx="265807" cy="26580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17674" y="2053903"/>
            <a:ext cx="4301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Loyalty Programs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917674" y="2336304"/>
            <a:ext cx="430120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Reward repeat buyers to move Returning customers into the Loyal segment.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119" y="2997398"/>
            <a:ext cx="265807" cy="2658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17674" y="3043014"/>
            <a:ext cx="4301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2" name="Text 6"/>
          <p:cNvSpPr/>
          <p:nvPr/>
        </p:nvSpPr>
        <p:spPr>
          <a:xfrm>
            <a:off x="917674" y="3325416"/>
            <a:ext cx="430120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Balance sales boosts with margin control — 50% of Hat purchases use discounts.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6119" y="3986510"/>
            <a:ext cx="265807" cy="265807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17674" y="4032126"/>
            <a:ext cx="4301207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Targeted Marketing</a:t>
            </a:r>
            <a:endParaRPr lang="en-US" sz="1300" dirty="0"/>
          </a:p>
        </p:txBody>
      </p:sp>
      <p:sp>
        <p:nvSpPr>
          <p:cNvPr id="15" name="Text 8"/>
          <p:cNvSpPr/>
          <p:nvPr/>
        </p:nvSpPr>
        <p:spPr>
          <a:xfrm>
            <a:off x="917674" y="4314527"/>
            <a:ext cx="4301207" cy="411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Focus on high-revenue age groups and Express-shipping users for maximum ROI.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2026-08-11T07:58:37Z</dcterms:created>
  <dcterms:modified xsi:type="dcterms:W3CDTF">2026-08-11T07:58:37Z</dcterms:modified>
</cp:coreProperties>
</file>